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02036"/>
                </a:solidFill>
              </a:defRPr>
            </a:pPr>
            <a:r>
              <a:t>AI-Based Welding Defect Detection System Using Computer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65569"/>
                </a:solidFill>
              </a:defRPr>
            </a:pPr>
            <a:r>
              <a:t>Real-Time Embedded Edge Inspection Pipeline via YOLOv8 Nano</a:t>
            </a:r>
          </a:p>
          <a:p>
            <a:pPr>
              <a:defRPr sz="2000">
                <a:solidFill>
                  <a:srgbClr val="465569"/>
                </a:solidFill>
              </a:defRPr>
            </a:pPr>
          </a:p>
          <a:p>
            <a:pPr>
              <a:defRPr sz="2000">
                <a:solidFill>
                  <a:srgbClr val="465569"/>
                </a:solidFill>
              </a:defRPr>
            </a:pPr>
            <a:r>
              <a:t>Embedded AI Laboratory (Assignment 9) | Department of CSE (AI &amp; ML), PCCOE</a:t>
            </a:r>
          </a:p>
          <a:p>
            <a:pPr>
              <a:defRPr sz="2000">
                <a:solidFill>
                  <a:srgbClr val="465569"/>
                </a:solidFill>
              </a:defRPr>
            </a:pPr>
            <a:r>
              <a:t>Date: Academic Year 2025-26</a:t>
            </a:r>
          </a:p>
          <a:p>
            <a:pPr>
              <a:defRPr sz="2000">
                <a:solidFill>
                  <a:srgbClr val="465569"/>
                </a:solidFill>
              </a:defRPr>
            </a:pPr>
          </a:p>
          <a:p>
            <a:pPr>
              <a:defRPr sz="2000">
                <a:solidFill>
                  <a:srgbClr val="465569"/>
                </a:solidFill>
              </a:defRPr>
            </a:pPr>
            <a:r>
              <a:t>Scope: Transitioning manual welding quality control to an automated, low-latency edge-vision framework to detect structural surface defects in real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2036"/>
                </a:solidFill>
              </a:defRPr>
            </a:pPr>
            <a:r>
              <a:t>Dataset Selection &amp; Architecture (Rubric: 2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65569"/>
                </a:solidFill>
              </a:defRPr>
            </a:pPr>
            <a:r>
              <a:t>Dataset: Multi-Class Surface Weld Defect Dataset (Crack, Porosity, Spatter) from Kaggle.</a:t>
            </a:r>
          </a:p>
          <a:p>
            <a:pPr>
              <a:defRPr sz="1800">
                <a:solidFill>
                  <a:srgbClr val="465569"/>
                </a:solidFill>
              </a:defRPr>
            </a:pPr>
            <a:r>
              <a:t>Specifications: 640x640 normalized RGB inputs, YOLO-format coordinates [class_id, x, y, w, h].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457200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 / 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Class 0: Crack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1,982 / 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Narrow, high-contrast linear fissures along bead boundaries.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Class 1: Porosity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4,605 / 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Clustered and isolated spherical gas voids trapped during cooling.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Class 2: Spatter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21,504 / 1,734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Dense, scattered molten metal droplets in heat-affected zone.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labe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2036"/>
                </a:solidFill>
              </a:defRPr>
            </a:pPr>
            <a:r>
              <a:t>Sample &amp; Data Explanation (Rubric: 2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65569"/>
                </a:solidFill>
              </a:defRPr>
            </a:pPr>
            <a:r>
              <a:t>Morphologies &amp; Root Failure Causes:</a:t>
            </a:r>
          </a:p>
          <a:p>
            <a:pPr>
              <a:defRPr sz="1800">
                <a:solidFill>
                  <a:srgbClr val="465569"/>
                </a:solidFill>
              </a:defRPr>
            </a:pPr>
            <a:r>
              <a:t>• Crack (Critical Structural Hazard): High-contrast directional fissures caused by severe thermal tensile stress or hydrogen embrittlement.</a:t>
            </a:r>
          </a:p>
          <a:p>
            <a:pPr>
              <a:defRPr sz="1800">
                <a:solidFill>
                  <a:srgbClr val="465569"/>
                </a:solidFill>
              </a:defRPr>
            </a:pPr>
            <a:r>
              <a:t>• Porosity (Density Discontinuity): Spherical cavities caused by trapped shielding gas (Argon/CO2) or moisture/rust vaporization.</a:t>
            </a:r>
          </a:p>
          <a:p>
            <a:pPr>
              <a:defRPr sz="1800">
                <a:solidFill>
                  <a:srgbClr val="465569"/>
                </a:solidFill>
              </a:defRPr>
            </a:pPr>
            <a:r>
              <a:t>• Spatter (Process Flaw): Molten metal droplets caused by excessive arc current, incorrect torch angle, or unstable wire feed.</a:t>
            </a:r>
          </a:p>
        </p:txBody>
      </p:sp>
      <p:pic>
        <p:nvPicPr>
          <p:cNvPr id="4" name="Picture 3" descr="train_batch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2036"/>
                </a:solidFill>
              </a:defRPr>
            </a:pPr>
            <a:r>
              <a:t>Model Selection &amp; Embedded Feasibility (Rubric: 2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65569"/>
                </a:solidFill>
              </a:defRPr>
            </a:pPr>
            <a:r>
              <a:t>Architecture: Single-stage anchor-free YOLOv8 Nano (yolov8n.pt).</a:t>
            </a:r>
          </a:p>
          <a:p>
            <a:pPr>
              <a:defRPr sz="1800">
                <a:solidFill>
                  <a:srgbClr val="465569"/>
                </a:solidFill>
              </a:defRPr>
            </a:pPr>
            <a:r>
              <a:t>Single-stage rationale: Bypasses heavy Region Proposal Networks (RPNs), cutting latency from &gt;80 ms to sub-10 ms.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33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Embedded Hardware Profile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3,006,233 (~3.0M) -&gt; Fits within constrained edge SRAM/LPDDR4 memory.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Compute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8.1 GFLOPs -&gt; Minimal thermal load for fanless robotic enclosures.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Weight Footprint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6.2 MB ('best.pt') -&gt; Rapid boot and over-the-air updates from flash memory.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Frame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40.49 ms on CPU (~24.7 FPS); drops to &lt;5 ms (&gt;120 FPS) with TensorRT.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Target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NVIDIA Jetson Nano / Orin Nano, Raspberry Pi 5 with AI Hat.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2036"/>
                </a:solidFill>
              </a:defRPr>
            </a:pPr>
            <a:r>
              <a:t>Quantitative Evaluation &amp; Results Analysis (Rubric: 2 Marks)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365760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mAP@0.5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mAP@0.5:0.95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Porosity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Spatter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25.59%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65569"/>
                </a:solidFill>
              </a:defRPr>
            </a:pPr>
            <a:r>
              <a:t>Engineering Analysis:</a:t>
            </a:r>
          </a:p>
          <a:p>
            <a:pPr>
              <a:defRPr sz="1600">
                <a:solidFill>
                  <a:srgbClr val="465569"/>
                </a:solidFill>
              </a:defRPr>
            </a:pPr>
            <a:r>
              <a:t>• Crack Detection: Sharp contrast against reflective beads gives strong convolutional feature activations.</a:t>
            </a:r>
          </a:p>
          <a:p>
            <a:pPr>
              <a:defRPr sz="1600">
                <a:solidFill>
                  <a:srgbClr val="465569"/>
                </a:solidFill>
              </a:defRPr>
            </a:pPr>
            <a:r>
              <a:t>• Porosity Scaling: Resizing to 640x640 reduces micro-voids to single-pixel regions.</a:t>
            </a:r>
          </a:p>
          <a:p>
            <a:pPr>
              <a:defRPr sz="1600">
                <a:solidFill>
                  <a:srgbClr val="465569"/>
                </a:solidFill>
              </a:defRPr>
            </a:pPr>
            <a:r>
              <a:t>• Spatter Clustering: Dense droplets trigger NMS merging; surface roughness leads to false alarms.</a:t>
            </a:r>
          </a:p>
          <a:p>
            <a:pPr>
              <a:defRPr sz="1600">
                <a:solidFill>
                  <a:srgbClr val="465569"/>
                </a:solidFill>
              </a:defRPr>
            </a:pPr>
            <a:r>
              <a:t>• Operational Threshold: F1-confidence optimization identifies peak performance balance at Conf = 0.292.</a:t>
            </a:r>
          </a:p>
        </p:txBody>
      </p:sp>
      <p:pic>
        <p:nvPicPr>
          <p:cNvPr id="5" name="Picture 4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2036"/>
                </a:solidFill>
              </a:defRPr>
            </a:pPr>
            <a:r>
              <a:t>Visual Validation: Ground Truth vs. Autonomous Inference (Rubric: 2 Marks)</a:t>
            </a:r>
          </a:p>
        </p:txBody>
      </p:sp>
      <p:pic>
        <p:nvPicPr>
          <p:cNvPr id="3" name="Picture 2" descr="val_batch1_labe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Ground Truth Labels</a:t>
            </a:r>
          </a:p>
        </p:txBody>
      </p:sp>
      <p:pic>
        <p:nvPicPr>
          <p:cNvPr id="5" name="Picture 4" descr="val_batch1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029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5943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YOLOv8 Autonomous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2036"/>
                </a:solidFill>
              </a:defRPr>
            </a:pPr>
            <a:r>
              <a:t>Industrial Deployment Architecture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569"/>
                </a:solidFill>
              </a:defRPr>
            </a:pPr>
            <a:r>
              <a:t>Production Flow: GigE Camera -&gt; Edge SBC (Jetson/RPi5) -&gt; YOLOv8n TensorRT Engine -&gt; Digital I/O to PLC -&gt; Automatic Torch Stoppage / Fault Logging.</a:t>
            </a:r>
          </a:p>
          <a:p>
            <a:pPr>
              <a:defRPr sz="2000">
                <a:solidFill>
                  <a:srgbClr val="465569"/>
                </a:solidFill>
              </a:defRPr>
            </a:pPr>
          </a:p>
          <a:p>
            <a:pPr>
              <a:defRPr sz="2000">
                <a:solidFill>
                  <a:srgbClr val="465569"/>
                </a:solidFill>
              </a:defRPr>
            </a:pPr>
            <a:r>
              <a:t>Latency Assurance: Deterministic frame cycle guarantees zero-lag closed-loop control on 30 FPS production lines.</a:t>
            </a:r>
          </a:p>
          <a:p>
            <a:pPr>
              <a:defRPr sz="2000">
                <a:solidFill>
                  <a:srgbClr val="465569"/>
                </a:solidFill>
              </a:defRPr>
            </a:pPr>
          </a:p>
          <a:p>
            <a:pPr>
              <a:defRPr sz="2000">
                <a:solidFill>
                  <a:srgbClr val="465569"/>
                </a:solidFill>
              </a:defRPr>
            </a:pPr>
            <a:r>
              <a:t>QA Impact: Eliminates subjective inspector fatigue and catches critical fractures before structural delivery.</a:t>
            </a:r>
          </a:p>
          <a:p>
            <a:pPr>
              <a:defRPr sz="2000">
                <a:solidFill>
                  <a:srgbClr val="465569"/>
                </a:solidFill>
              </a:defRPr>
            </a:pPr>
          </a:p>
          <a:p>
            <a:pPr>
              <a:defRPr sz="2000">
                <a:solidFill>
                  <a:srgbClr val="465569"/>
                </a:solidFill>
              </a:defRPr>
            </a:pPr>
            <a:r>
              <a:t>Engineering Roadmap: Future integration of Sliced Aided Hyper Inference (SAHI) or 1024x1024 patch cropping for micro-porosity resolution.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